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[Student Name </a:t>
            </a:r>
            <a:endParaRPr lang="en-IN" b="0" dirty="0">
              <a:solidFill>
                <a:schemeClr val="tx1"/>
              </a:solidFill>
            </a:endParaRPr>
          </a:p>
          <a:p>
            <a:pPr algn="r"/>
            <a:r>
              <a:rPr lang="en-US" b="0" dirty="0">
                <a:solidFill>
                  <a:schemeClr val="tx1"/>
                </a:solidFill>
              </a:rPr>
              <a:t>College Name-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(its available in your offer letter)</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23950"/>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04569923-28E5-9602-9058-A32DFD4C804A}"/>
              </a:ext>
            </a:extLst>
          </p:cNvPr>
          <p:cNvSpPr txBox="1"/>
          <p:nvPr/>
        </p:nvSpPr>
        <p:spPr>
          <a:xfrm>
            <a:off x="467359" y="1378934"/>
            <a:ext cx="11048684" cy="4247317"/>
          </a:xfrm>
          <a:prstGeom prst="rect">
            <a:avLst/>
          </a:prstGeom>
          <a:noFill/>
        </p:spPr>
        <p:txBody>
          <a:bodyPr wrap="square" rtlCol="0">
            <a:spAutoFit/>
          </a:bodyPr>
          <a:lstStyle/>
          <a:p>
            <a:r>
              <a:rPr lang="en-IN" dirty="0"/>
              <a:t>This project </a:t>
            </a:r>
            <a:r>
              <a:rPr lang="en-IN" dirty="0" err="1"/>
              <a:t>analyzes</a:t>
            </a:r>
            <a:r>
              <a:rPr lang="en-IN" dirty="0"/>
              <a:t> agricultural activities across different </a:t>
            </a:r>
            <a:r>
              <a:rPr lang="en-IN" b="1" dirty="0"/>
              <a:t>seasons, geographical regions, crops and farming conditions</a:t>
            </a:r>
            <a:r>
              <a:rPr lang="en-IN" dirty="0"/>
              <a:t>.</a:t>
            </a:r>
          </a:p>
          <a:p>
            <a:r>
              <a:rPr lang="en-IN" dirty="0"/>
              <a:t>The dataset contains information related to:</a:t>
            </a:r>
          </a:p>
          <a:p>
            <a:pPr lvl="0"/>
            <a:r>
              <a:rPr lang="en-IN" dirty="0"/>
              <a:t> Crop production and yield </a:t>
            </a:r>
          </a:p>
          <a:p>
            <a:pPr lvl="0"/>
            <a:r>
              <a:rPr lang="en-IN" dirty="0"/>
              <a:t> Environmental conditions </a:t>
            </a:r>
          </a:p>
          <a:p>
            <a:pPr lvl="0"/>
            <a:r>
              <a:rPr lang="en-IN" dirty="0"/>
              <a:t> Water and irrigation usage </a:t>
            </a:r>
          </a:p>
          <a:p>
            <a:pPr lvl="0"/>
            <a:r>
              <a:rPr lang="en-IN" dirty="0"/>
              <a:t> Fertilizer and pesticide usage </a:t>
            </a:r>
          </a:p>
          <a:p>
            <a:pPr lvl="0"/>
            <a:r>
              <a:rPr lang="en-IN" dirty="0"/>
              <a:t> Soil characteristics </a:t>
            </a:r>
          </a:p>
          <a:p>
            <a:pPr lvl="0"/>
            <a:r>
              <a:rPr lang="en-IN" dirty="0"/>
              <a:t> Revenue, cost and profit </a:t>
            </a:r>
          </a:p>
          <a:p>
            <a:pPr lvl="0"/>
            <a:r>
              <a:rPr lang="en-IN" dirty="0"/>
              <a:t> Disease and pest risk </a:t>
            </a:r>
          </a:p>
          <a:p>
            <a:r>
              <a:rPr lang="en-IN" b="1" dirty="0"/>
              <a:t>Analysis Approach</a:t>
            </a:r>
          </a:p>
          <a:p>
            <a:r>
              <a:rPr lang="en-IN" dirty="0"/>
              <a:t>The project follows a structured data analytics workflow:</a:t>
            </a:r>
          </a:p>
          <a:p>
            <a:r>
              <a:rPr lang="en-IN" b="1" dirty="0"/>
              <a:t>Data Collection → Data Cleaning → Exploratory Analysis → Seasonal Comparison → Statistical Analysis → Visualization → Insights → Recommendations</a:t>
            </a:r>
            <a:endParaRPr lang="en-IN" dirty="0"/>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395664"/>
            <a:ext cx="8911925" cy="5125452"/>
          </a:xfrm>
        </p:spPr>
        <p:txBody>
          <a:bodyPr>
            <a:normAutofit fontScale="40000" lnSpcReduction="20000"/>
          </a:bodyPr>
          <a:lstStyle/>
          <a:p>
            <a:r>
              <a:rPr lang="en-IN" sz="3600" b="1" dirty="0"/>
              <a:t>Farmers</a:t>
            </a:r>
          </a:p>
          <a:p>
            <a:pPr lvl="0"/>
            <a:r>
              <a:rPr lang="en-IN" sz="3600" dirty="0"/>
              <a:t>Select suitable crops and seasons </a:t>
            </a:r>
          </a:p>
          <a:p>
            <a:pPr lvl="0"/>
            <a:r>
              <a:rPr lang="en-IN" sz="3600" dirty="0"/>
              <a:t>Improve resource utilization </a:t>
            </a:r>
          </a:p>
          <a:p>
            <a:pPr lvl="0"/>
            <a:r>
              <a:rPr lang="en-IN" sz="3600" dirty="0"/>
              <a:t>Understand yield and profitability patterns </a:t>
            </a:r>
          </a:p>
          <a:p>
            <a:pPr marL="0" indent="0">
              <a:buNone/>
            </a:pPr>
            <a:r>
              <a:rPr lang="en-IN" sz="3600" b="1" dirty="0"/>
              <a:t>Agricultural Planners &amp; Government Departments</a:t>
            </a:r>
          </a:p>
          <a:p>
            <a:pPr lvl="0"/>
            <a:r>
              <a:rPr lang="en-IN" sz="3600" dirty="0"/>
              <a:t>Support seasonal agricultural planning </a:t>
            </a:r>
          </a:p>
          <a:p>
            <a:pPr lvl="0"/>
            <a:r>
              <a:rPr lang="en-IN" sz="3600" dirty="0"/>
              <a:t>Identify regional performance differences </a:t>
            </a:r>
          </a:p>
          <a:p>
            <a:pPr lvl="0"/>
            <a:r>
              <a:rPr lang="en-IN" sz="3600" dirty="0"/>
              <a:t>Plan resource allocation </a:t>
            </a:r>
          </a:p>
          <a:p>
            <a:pPr marL="0" indent="0">
              <a:buNone/>
            </a:pPr>
            <a:r>
              <a:rPr lang="en-IN" sz="3600" b="1" dirty="0"/>
              <a:t> Agricultural Organizations</a:t>
            </a:r>
          </a:p>
          <a:p>
            <a:pPr lvl="0"/>
            <a:r>
              <a:rPr lang="en-IN" sz="3600" dirty="0"/>
              <a:t>Compare crop performance </a:t>
            </a:r>
          </a:p>
          <a:p>
            <a:pPr lvl="0"/>
            <a:r>
              <a:rPr lang="en-IN" sz="3600" dirty="0" err="1"/>
              <a:t>Analyze</a:t>
            </a:r>
            <a:r>
              <a:rPr lang="en-IN" sz="3600" dirty="0"/>
              <a:t> resource efficiency </a:t>
            </a:r>
          </a:p>
          <a:p>
            <a:pPr lvl="0"/>
            <a:r>
              <a:rPr lang="en-IN" sz="3600" dirty="0"/>
              <a:t>Monitor seasonal risks </a:t>
            </a:r>
          </a:p>
          <a:p>
            <a:pPr marL="0" indent="0">
              <a:buNone/>
            </a:pPr>
            <a:r>
              <a:rPr lang="en-IN" sz="3600" b="1" dirty="0"/>
              <a:t> Agricultural Analysts / Researchers</a:t>
            </a:r>
          </a:p>
          <a:p>
            <a:pPr lvl="0"/>
            <a:r>
              <a:rPr lang="en-IN" sz="3600" dirty="0"/>
              <a:t>Study seasonal trends </a:t>
            </a:r>
          </a:p>
          <a:p>
            <a:pPr lvl="0"/>
            <a:r>
              <a:rPr lang="en-IN" sz="3600" dirty="0"/>
              <a:t>Investigate relationships between environmental and agricultural factors </a:t>
            </a:r>
          </a:p>
          <a:p>
            <a:pPr lvl="0"/>
            <a:r>
              <a:rPr lang="en-IN" sz="3600" dirty="0"/>
              <a:t>Support evidence-based decision-making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2" end="12"/>
                                            </p:txEl>
                                          </p:spTgt>
                                        </p:tgtEl>
                                        <p:attrNameLst>
                                          <p:attrName>style.visibility</p:attrName>
                                        </p:attrNameLst>
                                      </p:cBhvr>
                                      <p:to>
                                        <p:strVal val="visible"/>
                                      </p:to>
                                    </p:set>
                                    <p:animEffect transition="in" filter="fade">
                                      <p:cBhvr>
                                        <p:cTn id="98" dur="1000"/>
                                        <p:tgtEl>
                                          <p:spTgt spid="2">
                                            <p:txEl>
                                              <p:pRg st="12" end="12"/>
                                            </p:txEl>
                                          </p:spTgt>
                                        </p:tgtEl>
                                      </p:cBhvr>
                                    </p:animEffect>
                                    <p:anim calcmode="lin" valueType="num">
                                      <p:cBhvr>
                                        <p:cTn id="99"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
                                            <p:txEl>
                                              <p:pRg st="13" end="13"/>
                                            </p:txEl>
                                          </p:spTgt>
                                        </p:tgtEl>
                                        <p:attrNameLst>
                                          <p:attrName>style.visibility</p:attrName>
                                        </p:attrNameLst>
                                      </p:cBhvr>
                                      <p:to>
                                        <p:strVal val="visible"/>
                                      </p:to>
                                    </p:set>
                                    <p:animEffect transition="in" filter="fade">
                                      <p:cBhvr>
                                        <p:cTn id="105" dur="1000"/>
                                        <p:tgtEl>
                                          <p:spTgt spid="2">
                                            <p:txEl>
                                              <p:pRg st="13" end="13"/>
                                            </p:txEl>
                                          </p:spTgt>
                                        </p:tgtEl>
                                      </p:cBhvr>
                                    </p:animEffect>
                                    <p:anim calcmode="lin" valueType="num">
                                      <p:cBhvr>
                                        <p:cTn id="106"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
                                            <p:txEl>
                                              <p:pRg st="14" end="14"/>
                                            </p:txEl>
                                          </p:spTgt>
                                        </p:tgtEl>
                                        <p:attrNameLst>
                                          <p:attrName>style.visibility</p:attrName>
                                        </p:attrNameLst>
                                      </p:cBhvr>
                                      <p:to>
                                        <p:strVal val="visible"/>
                                      </p:to>
                                    </p:set>
                                    <p:animEffect transition="in" filter="fade">
                                      <p:cBhvr>
                                        <p:cTn id="112" dur="1000"/>
                                        <p:tgtEl>
                                          <p:spTgt spid="2">
                                            <p:txEl>
                                              <p:pRg st="14" end="14"/>
                                            </p:txEl>
                                          </p:spTgt>
                                        </p:tgtEl>
                                      </p:cBhvr>
                                    </p:animEffect>
                                    <p:anim calcmode="lin" valueType="num">
                                      <p:cBhvr>
                                        <p:cTn id="113"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2">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2">
                                            <p:txEl>
                                              <p:pRg st="15" end="15"/>
                                            </p:txEl>
                                          </p:spTgt>
                                        </p:tgtEl>
                                        <p:attrNameLst>
                                          <p:attrName>style.visibility</p:attrName>
                                        </p:attrNameLst>
                                      </p:cBhvr>
                                      <p:to>
                                        <p:strVal val="visible"/>
                                      </p:to>
                                    </p:set>
                                    <p:animEffect transition="in" filter="fade">
                                      <p:cBhvr>
                                        <p:cTn id="119" dur="1000"/>
                                        <p:tgtEl>
                                          <p:spTgt spid="2">
                                            <p:txEl>
                                              <p:pRg st="15" end="15"/>
                                            </p:txEl>
                                          </p:spTgt>
                                        </p:tgtEl>
                                      </p:cBhvr>
                                    </p:animEffect>
                                    <p:anim calcmode="lin" valueType="num">
                                      <p:cBhvr>
                                        <p:cTn id="120" dur="1000" fill="hold"/>
                                        <p:tgtEl>
                                          <p:spTgt spid="2">
                                            <p:txEl>
                                              <p:pRg st="15" end="15"/>
                                            </p:txEl>
                                          </p:spTgt>
                                        </p:tgtEl>
                                        <p:attrNameLst>
                                          <p:attrName>ppt_x</p:attrName>
                                        </p:attrNameLst>
                                      </p:cBhvr>
                                      <p:tavLst>
                                        <p:tav tm="0">
                                          <p:val>
                                            <p:strVal val="#ppt_x"/>
                                          </p:val>
                                        </p:tav>
                                        <p:tav tm="100000">
                                          <p:val>
                                            <p:strVal val="#ppt_x"/>
                                          </p:val>
                                        </p:tav>
                                      </p:tavLst>
                                    </p:anim>
                                    <p:anim calcmode="lin" valueType="num">
                                      <p:cBhvr>
                                        <p:cTn id="121" dur="1000" fill="hold"/>
                                        <p:tgtEl>
                                          <p:spTgt spid="2">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graphicFrame>
        <p:nvGraphicFramePr>
          <p:cNvPr id="17" name="Table 16">
            <a:extLst>
              <a:ext uri="{FF2B5EF4-FFF2-40B4-BE49-F238E27FC236}">
                <a16:creationId xmlns:a16="http://schemas.microsoft.com/office/drawing/2014/main" id="{DDE63FFB-8853-E0B8-038F-E70FBF9AD712}"/>
              </a:ext>
            </a:extLst>
          </p:cNvPr>
          <p:cNvGraphicFramePr>
            <a:graphicFrameLocks noGrp="1"/>
          </p:cNvGraphicFramePr>
          <p:nvPr>
            <p:extLst>
              <p:ext uri="{D42A27DB-BD31-4B8C-83A1-F6EECF244321}">
                <p14:modId xmlns:p14="http://schemas.microsoft.com/office/powerpoint/2010/main" val="1938175807"/>
              </p:ext>
            </p:extLst>
          </p:nvPr>
        </p:nvGraphicFramePr>
        <p:xfrm>
          <a:off x="1441290" y="2201804"/>
          <a:ext cx="7932510" cy="3952760"/>
        </p:xfrm>
        <a:graphic>
          <a:graphicData uri="http://schemas.openxmlformats.org/drawingml/2006/table">
            <a:tbl>
              <a:tblPr>
                <a:tableStyleId>{6E25E649-3F16-4E02-A733-19D2CDBF48F0}</a:tableStyleId>
              </a:tblPr>
              <a:tblGrid>
                <a:gridCol w="3966255">
                  <a:extLst>
                    <a:ext uri="{9D8B030D-6E8A-4147-A177-3AD203B41FA5}">
                      <a16:colId xmlns:a16="http://schemas.microsoft.com/office/drawing/2014/main" val="397801441"/>
                    </a:ext>
                  </a:extLst>
                </a:gridCol>
                <a:gridCol w="3966255">
                  <a:extLst>
                    <a:ext uri="{9D8B030D-6E8A-4147-A177-3AD203B41FA5}">
                      <a16:colId xmlns:a16="http://schemas.microsoft.com/office/drawing/2014/main" val="3877727028"/>
                    </a:ext>
                  </a:extLst>
                </a:gridCol>
              </a:tblGrid>
              <a:tr h="337516">
                <a:tc>
                  <a:txBody>
                    <a:bodyPr/>
                    <a:lstStyle/>
                    <a:p>
                      <a:pPr>
                        <a:buNone/>
                      </a:pPr>
                      <a:r>
                        <a:rPr lang="en-IN" sz="1700"/>
                        <a:t>Technology</a:t>
                      </a:r>
                    </a:p>
                  </a:txBody>
                  <a:tcPr marL="84379" marR="84379" marT="42190" marB="42190" anchor="ctr"/>
                </a:tc>
                <a:tc>
                  <a:txBody>
                    <a:bodyPr/>
                    <a:lstStyle/>
                    <a:p>
                      <a:pPr>
                        <a:buNone/>
                      </a:pPr>
                      <a:r>
                        <a:rPr lang="en-IN" sz="1700"/>
                        <a:t>Purpose</a:t>
                      </a:r>
                    </a:p>
                  </a:txBody>
                  <a:tcPr marL="84379" marR="84379" marT="42190" marB="42190" anchor="ctr"/>
                </a:tc>
                <a:extLst>
                  <a:ext uri="{0D108BD9-81ED-4DB2-BD59-A6C34878D82A}">
                    <a16:rowId xmlns:a16="http://schemas.microsoft.com/office/drawing/2014/main" val="1940766328"/>
                  </a:ext>
                </a:extLst>
              </a:tr>
              <a:tr h="590653">
                <a:tc>
                  <a:txBody>
                    <a:bodyPr/>
                    <a:lstStyle/>
                    <a:p>
                      <a:pPr>
                        <a:buNone/>
                      </a:pPr>
                      <a:r>
                        <a:rPr lang="en-IN" sz="1700" dirty="0"/>
                        <a:t>Python</a:t>
                      </a:r>
                    </a:p>
                  </a:txBody>
                  <a:tcPr marL="84379" marR="84379" marT="42190" marB="42190" anchor="ctr"/>
                </a:tc>
                <a:tc>
                  <a:txBody>
                    <a:bodyPr/>
                    <a:lstStyle/>
                    <a:p>
                      <a:pPr>
                        <a:buNone/>
                      </a:pPr>
                      <a:r>
                        <a:rPr lang="en-IN" sz="1700"/>
                        <a:t>Data analysis and statistical computation</a:t>
                      </a:r>
                    </a:p>
                  </a:txBody>
                  <a:tcPr marL="84379" marR="84379" marT="42190" marB="42190" anchor="ctr"/>
                </a:tc>
                <a:extLst>
                  <a:ext uri="{0D108BD9-81ED-4DB2-BD59-A6C34878D82A}">
                    <a16:rowId xmlns:a16="http://schemas.microsoft.com/office/drawing/2014/main" val="1924761215"/>
                  </a:ext>
                </a:extLst>
              </a:tr>
              <a:tr h="590653">
                <a:tc>
                  <a:txBody>
                    <a:bodyPr/>
                    <a:lstStyle/>
                    <a:p>
                      <a:pPr>
                        <a:buNone/>
                      </a:pPr>
                      <a:r>
                        <a:rPr lang="en-IN" sz="1700"/>
                        <a:t>Google Colab</a:t>
                      </a:r>
                    </a:p>
                  </a:txBody>
                  <a:tcPr marL="84379" marR="84379" marT="42190" marB="42190" anchor="ctr"/>
                </a:tc>
                <a:tc>
                  <a:txBody>
                    <a:bodyPr/>
                    <a:lstStyle/>
                    <a:p>
                      <a:pPr>
                        <a:buNone/>
                      </a:pPr>
                      <a:r>
                        <a:rPr lang="en-IN" sz="1700"/>
                        <a:t>Development and execution environment</a:t>
                      </a:r>
                    </a:p>
                  </a:txBody>
                  <a:tcPr marL="84379" marR="84379" marT="42190" marB="42190" anchor="ctr"/>
                </a:tc>
                <a:extLst>
                  <a:ext uri="{0D108BD9-81ED-4DB2-BD59-A6C34878D82A}">
                    <a16:rowId xmlns:a16="http://schemas.microsoft.com/office/drawing/2014/main" val="1531120413"/>
                  </a:ext>
                </a:extLst>
              </a:tr>
              <a:tr h="337516">
                <a:tc>
                  <a:txBody>
                    <a:bodyPr/>
                    <a:lstStyle/>
                    <a:p>
                      <a:pPr>
                        <a:buNone/>
                      </a:pPr>
                      <a:r>
                        <a:rPr lang="en-IN" sz="1700"/>
                        <a:t>Pandas</a:t>
                      </a:r>
                    </a:p>
                  </a:txBody>
                  <a:tcPr marL="84379" marR="84379" marT="42190" marB="42190" anchor="ctr"/>
                </a:tc>
                <a:tc>
                  <a:txBody>
                    <a:bodyPr/>
                    <a:lstStyle/>
                    <a:p>
                      <a:pPr>
                        <a:buNone/>
                      </a:pPr>
                      <a:r>
                        <a:rPr lang="en-IN" sz="1700"/>
                        <a:t>Data loading, cleaning and aggregation</a:t>
                      </a:r>
                    </a:p>
                  </a:txBody>
                  <a:tcPr marL="84379" marR="84379" marT="42190" marB="42190" anchor="ctr"/>
                </a:tc>
                <a:extLst>
                  <a:ext uri="{0D108BD9-81ED-4DB2-BD59-A6C34878D82A}">
                    <a16:rowId xmlns:a16="http://schemas.microsoft.com/office/drawing/2014/main" val="4009362662"/>
                  </a:ext>
                </a:extLst>
              </a:tr>
              <a:tr h="337516">
                <a:tc>
                  <a:txBody>
                    <a:bodyPr/>
                    <a:lstStyle/>
                    <a:p>
                      <a:pPr>
                        <a:buNone/>
                      </a:pPr>
                      <a:r>
                        <a:rPr lang="en-IN" sz="1700"/>
                        <a:t>NumPy</a:t>
                      </a:r>
                    </a:p>
                  </a:txBody>
                  <a:tcPr marL="84379" marR="84379" marT="42190" marB="42190" anchor="ctr"/>
                </a:tc>
                <a:tc>
                  <a:txBody>
                    <a:bodyPr/>
                    <a:lstStyle/>
                    <a:p>
                      <a:pPr>
                        <a:buNone/>
                      </a:pPr>
                      <a:r>
                        <a:rPr lang="en-IN" sz="1700"/>
                        <a:t>Numerical operations</a:t>
                      </a:r>
                    </a:p>
                  </a:txBody>
                  <a:tcPr marL="84379" marR="84379" marT="42190" marB="42190" anchor="ctr"/>
                </a:tc>
                <a:extLst>
                  <a:ext uri="{0D108BD9-81ED-4DB2-BD59-A6C34878D82A}">
                    <a16:rowId xmlns:a16="http://schemas.microsoft.com/office/drawing/2014/main" val="1129481104"/>
                  </a:ext>
                </a:extLst>
              </a:tr>
              <a:tr h="337516">
                <a:tc>
                  <a:txBody>
                    <a:bodyPr/>
                    <a:lstStyle/>
                    <a:p>
                      <a:pPr>
                        <a:buNone/>
                      </a:pPr>
                      <a:r>
                        <a:rPr lang="en-IN" sz="1700"/>
                        <a:t>Matplotlib</a:t>
                      </a:r>
                    </a:p>
                  </a:txBody>
                  <a:tcPr marL="84379" marR="84379" marT="42190" marB="42190" anchor="ctr"/>
                </a:tc>
                <a:tc>
                  <a:txBody>
                    <a:bodyPr/>
                    <a:lstStyle/>
                    <a:p>
                      <a:pPr>
                        <a:buNone/>
                      </a:pPr>
                      <a:r>
                        <a:rPr lang="en-IN" sz="1700"/>
                        <a:t>Data visualization</a:t>
                      </a:r>
                    </a:p>
                  </a:txBody>
                  <a:tcPr marL="84379" marR="84379" marT="42190" marB="42190" anchor="ctr"/>
                </a:tc>
                <a:extLst>
                  <a:ext uri="{0D108BD9-81ED-4DB2-BD59-A6C34878D82A}">
                    <a16:rowId xmlns:a16="http://schemas.microsoft.com/office/drawing/2014/main" val="2314978930"/>
                  </a:ext>
                </a:extLst>
              </a:tr>
              <a:tr h="337516">
                <a:tc>
                  <a:txBody>
                    <a:bodyPr/>
                    <a:lstStyle/>
                    <a:p>
                      <a:pPr>
                        <a:buNone/>
                      </a:pPr>
                      <a:r>
                        <a:rPr lang="en-IN" sz="1700"/>
                        <a:t>Seaborn</a:t>
                      </a:r>
                    </a:p>
                  </a:txBody>
                  <a:tcPr marL="84379" marR="84379" marT="42190" marB="42190" anchor="ctr"/>
                </a:tc>
                <a:tc>
                  <a:txBody>
                    <a:bodyPr/>
                    <a:lstStyle/>
                    <a:p>
                      <a:pPr>
                        <a:buNone/>
                      </a:pPr>
                      <a:r>
                        <a:rPr lang="en-IN" sz="1700"/>
                        <a:t>Statistical visualization</a:t>
                      </a:r>
                    </a:p>
                  </a:txBody>
                  <a:tcPr marL="84379" marR="84379" marT="42190" marB="42190" anchor="ctr"/>
                </a:tc>
                <a:extLst>
                  <a:ext uri="{0D108BD9-81ED-4DB2-BD59-A6C34878D82A}">
                    <a16:rowId xmlns:a16="http://schemas.microsoft.com/office/drawing/2014/main" val="3040570992"/>
                  </a:ext>
                </a:extLst>
              </a:tr>
              <a:tr h="337516">
                <a:tc>
                  <a:txBody>
                    <a:bodyPr/>
                    <a:lstStyle/>
                    <a:p>
                      <a:pPr>
                        <a:buNone/>
                      </a:pPr>
                      <a:r>
                        <a:rPr lang="en-IN" sz="1700"/>
                        <a:t>SciPy</a:t>
                      </a:r>
                    </a:p>
                  </a:txBody>
                  <a:tcPr marL="84379" marR="84379" marT="42190" marB="42190" anchor="ctr"/>
                </a:tc>
                <a:tc>
                  <a:txBody>
                    <a:bodyPr/>
                    <a:lstStyle/>
                    <a:p>
                      <a:pPr>
                        <a:buNone/>
                      </a:pPr>
                      <a:r>
                        <a:rPr lang="en-IN" sz="1700"/>
                        <a:t>Statistical hypothesis testing</a:t>
                      </a:r>
                    </a:p>
                  </a:txBody>
                  <a:tcPr marL="84379" marR="84379" marT="42190" marB="42190" anchor="ctr"/>
                </a:tc>
                <a:extLst>
                  <a:ext uri="{0D108BD9-81ED-4DB2-BD59-A6C34878D82A}">
                    <a16:rowId xmlns:a16="http://schemas.microsoft.com/office/drawing/2014/main" val="3568746166"/>
                  </a:ext>
                </a:extLst>
              </a:tr>
              <a:tr h="337516">
                <a:tc>
                  <a:txBody>
                    <a:bodyPr/>
                    <a:lstStyle/>
                    <a:p>
                      <a:pPr>
                        <a:buNone/>
                      </a:pPr>
                      <a:r>
                        <a:rPr lang="en-IN" sz="1700"/>
                        <a:t>Scikit-learn</a:t>
                      </a:r>
                    </a:p>
                  </a:txBody>
                  <a:tcPr marL="84379" marR="84379" marT="42190" marB="42190" anchor="ctr"/>
                </a:tc>
                <a:tc>
                  <a:txBody>
                    <a:bodyPr/>
                    <a:lstStyle/>
                    <a:p>
                      <a:pPr>
                        <a:buNone/>
                      </a:pPr>
                      <a:r>
                        <a:rPr lang="en-IN" sz="1700"/>
                        <a:t>Data preprocessing / normalization</a:t>
                      </a:r>
                    </a:p>
                  </a:txBody>
                  <a:tcPr marL="84379" marR="84379" marT="42190" marB="42190" anchor="ctr"/>
                </a:tc>
                <a:extLst>
                  <a:ext uri="{0D108BD9-81ED-4DB2-BD59-A6C34878D82A}">
                    <a16:rowId xmlns:a16="http://schemas.microsoft.com/office/drawing/2014/main" val="1755998897"/>
                  </a:ext>
                </a:extLst>
              </a:tr>
              <a:tr h="337516">
                <a:tc>
                  <a:txBody>
                    <a:bodyPr/>
                    <a:lstStyle/>
                    <a:p>
                      <a:pPr>
                        <a:buNone/>
                      </a:pPr>
                      <a:r>
                        <a:rPr lang="en-IN" sz="1700"/>
                        <a:t>CSV Dataset</a:t>
                      </a:r>
                    </a:p>
                  </a:txBody>
                  <a:tcPr marL="84379" marR="84379" marT="42190" marB="42190" anchor="ctr"/>
                </a:tc>
                <a:tc>
                  <a:txBody>
                    <a:bodyPr/>
                    <a:lstStyle/>
                    <a:p>
                      <a:pPr>
                        <a:buNone/>
                      </a:pPr>
                      <a:r>
                        <a:rPr lang="en-IN" sz="1700" dirty="0"/>
                        <a:t>Primary data source</a:t>
                      </a:r>
                    </a:p>
                  </a:txBody>
                  <a:tcPr marL="84379" marR="84379" marT="42190" marB="42190" anchor="ctr"/>
                </a:tc>
                <a:extLst>
                  <a:ext uri="{0D108BD9-81ED-4DB2-BD59-A6C34878D82A}">
                    <a16:rowId xmlns:a16="http://schemas.microsoft.com/office/drawing/2014/main" val="1724735549"/>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F79DC6E6-59C5-06FE-DE0A-F1222F191181}"/>
              </a:ext>
            </a:extLst>
          </p:cNvPr>
          <p:cNvSpPr>
            <a:spLocks noGrp="1"/>
          </p:cNvSpPr>
          <p:nvPr>
            <p:ph type="body" sz="quarter" idx="12"/>
          </p:nvPr>
        </p:nvSpPr>
        <p:spPr/>
        <p:txBody>
          <a:bodyPr/>
          <a:lstStyle/>
          <a:p>
            <a:endParaRPr lang="en-IN"/>
          </a:p>
        </p:txBody>
      </p:sp>
      <p:pic>
        <p:nvPicPr>
          <p:cNvPr id="9" name="Picture 8">
            <a:extLst>
              <a:ext uri="{FF2B5EF4-FFF2-40B4-BE49-F238E27FC236}">
                <a16:creationId xmlns:a16="http://schemas.microsoft.com/office/drawing/2014/main" id="{4B9B183B-4183-014D-5F87-FB95916171F8}"/>
              </a:ext>
            </a:extLst>
          </p:cNvPr>
          <p:cNvPicPr>
            <a:picLocks noChangeAspect="1"/>
          </p:cNvPicPr>
          <p:nvPr/>
        </p:nvPicPr>
        <p:blipFill>
          <a:blip r:embed="rId3"/>
          <a:stretch>
            <a:fillRect/>
          </a:stretch>
        </p:blipFill>
        <p:spPr>
          <a:xfrm>
            <a:off x="672910" y="1184951"/>
            <a:ext cx="6664417" cy="528696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4EEBBE34-0832-DF5D-7746-9C875542993C}"/>
              </a:ext>
            </a:extLst>
          </p:cNvPr>
          <p:cNvSpPr>
            <a:spLocks noGrp="1"/>
          </p:cNvSpPr>
          <p:nvPr>
            <p:ph type="body" sz="quarter" idx="12"/>
          </p:nvPr>
        </p:nvSpPr>
        <p:spPr/>
        <p:txBody>
          <a:bodyPr/>
          <a:lstStyle/>
          <a:p>
            <a:endParaRPr lang="en-IN"/>
          </a:p>
        </p:txBody>
      </p:sp>
      <p:pic>
        <p:nvPicPr>
          <p:cNvPr id="9" name="Picture 8">
            <a:extLst>
              <a:ext uri="{FF2B5EF4-FFF2-40B4-BE49-F238E27FC236}">
                <a16:creationId xmlns:a16="http://schemas.microsoft.com/office/drawing/2014/main" id="{F107DA0F-F73B-3F02-E701-88DF8EF86B3F}"/>
              </a:ext>
            </a:extLst>
          </p:cNvPr>
          <p:cNvPicPr>
            <a:picLocks noChangeAspect="1"/>
          </p:cNvPicPr>
          <p:nvPr/>
        </p:nvPicPr>
        <p:blipFill>
          <a:blip r:embed="rId3"/>
          <a:stretch>
            <a:fillRect/>
          </a:stretch>
        </p:blipFill>
        <p:spPr>
          <a:xfrm>
            <a:off x="658659" y="468373"/>
            <a:ext cx="10874682" cy="592125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80CB9263-E1BF-9040-14A3-85471CBC90EB}"/>
              </a:ext>
            </a:extLst>
          </p:cNvPr>
          <p:cNvSpPr>
            <a:spLocks noGrp="1"/>
          </p:cNvSpPr>
          <p:nvPr>
            <p:ph type="body" sz="quarter" idx="12"/>
          </p:nvPr>
        </p:nvSpPr>
        <p:spPr/>
        <p:txBody>
          <a:bodyPr/>
          <a:lstStyle/>
          <a:p>
            <a:endParaRPr lang="en-IN" dirty="0"/>
          </a:p>
        </p:txBody>
      </p:sp>
      <p:pic>
        <p:nvPicPr>
          <p:cNvPr id="9" name="Picture 8">
            <a:extLst>
              <a:ext uri="{FF2B5EF4-FFF2-40B4-BE49-F238E27FC236}">
                <a16:creationId xmlns:a16="http://schemas.microsoft.com/office/drawing/2014/main" id="{DA242734-CE27-7908-F0DC-002C57A8A3B0}"/>
              </a:ext>
            </a:extLst>
          </p:cNvPr>
          <p:cNvPicPr>
            <a:picLocks noChangeAspect="1"/>
          </p:cNvPicPr>
          <p:nvPr/>
        </p:nvPicPr>
        <p:blipFill>
          <a:blip r:embed="rId3"/>
          <a:stretch>
            <a:fillRect/>
          </a:stretch>
        </p:blipFill>
        <p:spPr>
          <a:xfrm>
            <a:off x="90920" y="1588168"/>
            <a:ext cx="9133292" cy="482051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E34A74B4-9EDF-40EC-AAF7-F72908851D3C}"/>
              </a:ext>
            </a:extLst>
          </p:cNvPr>
          <p:cNvSpPr>
            <a:spLocks noGrp="1"/>
          </p:cNvSpPr>
          <p:nvPr>
            <p:ph type="body" sz="quarter" idx="12"/>
          </p:nvPr>
        </p:nvSpPr>
        <p:spPr/>
        <p:txBody>
          <a:bodyPr/>
          <a:lstStyle/>
          <a:p>
            <a:endParaRPr lang="en-IN"/>
          </a:p>
        </p:txBody>
      </p:sp>
      <p:pic>
        <p:nvPicPr>
          <p:cNvPr id="9" name="Picture 8">
            <a:extLst>
              <a:ext uri="{FF2B5EF4-FFF2-40B4-BE49-F238E27FC236}">
                <a16:creationId xmlns:a16="http://schemas.microsoft.com/office/drawing/2014/main" id="{315981DE-C854-A112-44F7-5A793D929A1F}"/>
              </a:ext>
            </a:extLst>
          </p:cNvPr>
          <p:cNvPicPr>
            <a:picLocks noChangeAspect="1"/>
          </p:cNvPicPr>
          <p:nvPr/>
        </p:nvPicPr>
        <p:blipFill>
          <a:blip r:embed="rId3"/>
          <a:stretch>
            <a:fillRect/>
          </a:stretch>
        </p:blipFill>
        <p:spPr>
          <a:xfrm>
            <a:off x="361790" y="1211228"/>
            <a:ext cx="8165669" cy="552055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3BF6761-CF2A-050E-2424-12086729E697}"/>
              </a:ext>
            </a:extLst>
          </p:cNvPr>
          <p:cNvSpPr txBox="1"/>
          <p:nvPr/>
        </p:nvSpPr>
        <p:spPr>
          <a:xfrm>
            <a:off x="486350" y="962526"/>
            <a:ext cx="7202905" cy="5539978"/>
          </a:xfrm>
          <a:prstGeom prst="rect">
            <a:avLst/>
          </a:prstGeom>
          <a:noFill/>
        </p:spPr>
        <p:txBody>
          <a:bodyPr wrap="square" rtlCol="0">
            <a:spAutoFit/>
          </a:bodyPr>
          <a:lstStyle/>
          <a:p>
            <a:r>
              <a:rPr lang="en-IN" sz="1600" b="1" dirty="0"/>
              <a:t>1. AI-Based Crop Yield Prediction</a:t>
            </a:r>
          </a:p>
          <a:p>
            <a:pPr lvl="0"/>
            <a:r>
              <a:rPr lang="en-IN" sz="1600" dirty="0"/>
              <a:t>Develop machine-learning models to predict </a:t>
            </a:r>
            <a:r>
              <a:rPr lang="en-IN" sz="1600" b="1" dirty="0"/>
              <a:t>crop yield for different seasons</a:t>
            </a:r>
            <a:r>
              <a:rPr lang="en-IN" sz="1600" dirty="0"/>
              <a:t>. </a:t>
            </a:r>
          </a:p>
          <a:p>
            <a:pPr lvl="0"/>
            <a:r>
              <a:rPr lang="en-IN" sz="1600" dirty="0"/>
              <a:t>Use historical factors such as rainfall, temperature, soil conditions, irrigation and fertilizer usage. </a:t>
            </a:r>
          </a:p>
          <a:p>
            <a:pPr lvl="0"/>
            <a:r>
              <a:rPr lang="en-IN" sz="1600" dirty="0"/>
              <a:t>Predict expected yield before or during a growing season. </a:t>
            </a:r>
          </a:p>
          <a:p>
            <a:pPr lvl="0"/>
            <a:r>
              <a:rPr lang="en-IN" sz="1600" dirty="0"/>
              <a:t>This can help farmers plan crop selection and resource allocation. </a:t>
            </a:r>
          </a:p>
          <a:p>
            <a:r>
              <a:rPr lang="en-IN" sz="1600" b="1" dirty="0"/>
              <a:t>2. Real-Time Weather Integration</a:t>
            </a:r>
          </a:p>
          <a:p>
            <a:pPr lvl="0"/>
            <a:r>
              <a:rPr lang="en-IN" sz="1600" dirty="0"/>
              <a:t>Integrate </a:t>
            </a:r>
            <a:r>
              <a:rPr lang="en-IN" sz="1600" b="1" dirty="0"/>
              <a:t>live weather and rainfall data</a:t>
            </a:r>
            <a:r>
              <a:rPr lang="en-IN" sz="1600" dirty="0"/>
              <a:t>. </a:t>
            </a:r>
          </a:p>
          <a:p>
            <a:pPr lvl="0"/>
            <a:r>
              <a:rPr lang="en-IN" sz="1600" dirty="0" err="1"/>
              <a:t>Analyze</a:t>
            </a:r>
            <a:r>
              <a:rPr lang="en-IN" sz="1600" dirty="0"/>
              <a:t> how changing weather conditions may affect seasonal agricultural performance. </a:t>
            </a:r>
          </a:p>
          <a:p>
            <a:pPr lvl="0"/>
            <a:r>
              <a:rPr lang="en-IN" sz="1600" dirty="0"/>
              <a:t>Provide timely information for seasonal planning. </a:t>
            </a:r>
          </a:p>
          <a:p>
            <a:r>
              <a:rPr lang="en-IN" sz="1600" b="1" dirty="0"/>
              <a:t>3. Smart Irrigation Recommendation</a:t>
            </a:r>
          </a:p>
          <a:p>
            <a:pPr lvl="0"/>
            <a:r>
              <a:rPr lang="en-IN" sz="1600" dirty="0"/>
              <a:t>Develop a system that recommends </a:t>
            </a:r>
            <a:r>
              <a:rPr lang="en-IN" sz="1600" b="1" dirty="0"/>
              <a:t>optimal water usage</a:t>
            </a:r>
            <a:r>
              <a:rPr lang="en-IN" sz="1600" dirty="0"/>
              <a:t> based on: </a:t>
            </a:r>
          </a:p>
          <a:p>
            <a:pPr lvl="1"/>
            <a:r>
              <a:rPr lang="en-IN" sz="1600" dirty="0"/>
              <a:t>Crop </a:t>
            </a:r>
          </a:p>
          <a:p>
            <a:pPr lvl="1"/>
            <a:r>
              <a:rPr lang="en-IN" sz="1600" dirty="0"/>
              <a:t>Season </a:t>
            </a:r>
          </a:p>
          <a:p>
            <a:pPr lvl="1"/>
            <a:r>
              <a:rPr lang="en-IN" sz="1600" dirty="0"/>
              <a:t>Soil moisture </a:t>
            </a:r>
          </a:p>
          <a:p>
            <a:pPr lvl="1"/>
            <a:r>
              <a:rPr lang="en-IN" sz="1600" dirty="0"/>
              <a:t>Rainfall </a:t>
            </a:r>
          </a:p>
          <a:p>
            <a:pPr lvl="1"/>
            <a:r>
              <a:rPr lang="en-IN" sz="1600" dirty="0"/>
              <a:t>Temperature </a:t>
            </a:r>
          </a:p>
          <a:p>
            <a:pPr lvl="0"/>
            <a:r>
              <a:rPr lang="en-IN" sz="1600" dirty="0"/>
              <a:t>The objective would be to improve water efficiency while maintaining productivity.</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1018014" y="1368903"/>
            <a:ext cx="7232875" cy="646331"/>
          </a:xfrm>
          <a:prstGeom prst="rect">
            <a:avLst/>
          </a:prstGeom>
          <a:noFill/>
        </p:spPr>
        <p:txBody>
          <a:bodyPr wrap="square">
            <a:spAutoFit/>
          </a:bodyPr>
          <a:lstStyle/>
          <a:p>
            <a:r>
              <a:rPr lang="en-US" dirty="0"/>
              <a:t>https://github.com/Prapti-Thombre/Seasonal-Agriculture-Performance-Analysis-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A7C6FE5-8432-39EE-AE2B-EDD7EBFE6AE4}"/>
              </a:ext>
            </a:extLst>
          </p:cNvPr>
          <p:cNvPicPr>
            <a:picLocks noChangeAspect="1"/>
          </p:cNvPicPr>
          <p:nvPr/>
        </p:nvPicPr>
        <p:blipFill>
          <a:blip r:embed="rId3"/>
          <a:stretch>
            <a:fillRect/>
          </a:stretch>
        </p:blipFill>
        <p:spPr>
          <a:xfrm>
            <a:off x="761998" y="1395663"/>
            <a:ext cx="8539201" cy="526929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1399</TotalTime>
  <Words>469</Words>
  <Application>Microsoft Office PowerPoint</Application>
  <PresentationFormat>Widescreen</PresentationFormat>
  <Paragraphs>87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Prapti Thombre</cp:lastModifiedBy>
  <cp:revision>99</cp:revision>
  <dcterms:created xsi:type="dcterms:W3CDTF">2021-07-11T13:13:15Z</dcterms:created>
  <dcterms:modified xsi:type="dcterms:W3CDTF">2026-09-15T17:17:50Z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